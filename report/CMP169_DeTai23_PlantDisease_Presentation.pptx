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edia_slide_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edia_slide_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edia_slide_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edia_slide_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ĐỀ TÀI 23: PHÂN LOẠI BỆNH LÁ CÂY VỚI HỌC CHUYỂN GIAO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Plant Disease Classification from Leaf Images (CMP169 – FIT HUTECH)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108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Giảng viên hướng dẫn: TS. Nguyễn Đắc Dzự Trình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Bộ dữ liệu thực nghiệm: PlantVillage (54.305 ảnh thực tế, 38 lớp)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Mô hình: Dummy Baseline, HSV Color + LogReg, MobileNetV3 &amp; ResNet18 (timm)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Kết quả nổi bật: Đạt 0.981 Macro F1 (tăng +0.094 F1 so với Baseline màu sắc)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Triển khai: Ứng dụng chẩn đoán trực quan thời gian thực (&lt; 30 ms/ảnh)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Bài toán &amp; Mục tiêu: Chẩn đoán sớm giảm thiệt hại mùa màng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2/8 | Thời lượng: 1 phút 00 giây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108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Input: Ảnh màu RGB chụp cận cảnh bề mặt lá cây (224 x 224 px)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Output: Nhãn lớp bệnh lý / lá khỏe + Phân phối xác suất dự đoán Top-3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Thách thức: Các bệnh cùng họ nấm (Early vs Late Blight) có vết đốm rất giống nhau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Chi phí sai sót: Bỏ sót bệnh (FN) làm nấm lây cả ruộng; Báo nhầm (FP) gây phun thuốc thừa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Mục tiêu đo được: Đạt Macro F1 &gt;= 0.90 trên tập Test, suy luận &lt; 100 ms/ảnh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Dữ liệu PlantVillage lệch lớp -&gt; Chia phân tầng chống rò rỉ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3/8 | Thời lượng: 1 phút 00 giây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63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Nguồn: PlantVillage (Mohanty et al. - 54.305 ảnh thực tế thuộc 38 lớp)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EDA: Không có ảnh lỗi/thiếu nhãn, nhưng số mẫu lệch mạnh (152 đến 5.507 ảnh/lớp)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Chia tập TRƯỚC tiền xử lý: 70% Train - 15% Val - 15% Test (stratify=y, Seed=42)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Chống Data Leakage: StandardScaler &amp; Augmentation chỉ áp dụng trên tập Train</a:t>
            </a:r>
          </a:p>
        </p:txBody>
      </p:sp>
      <p:pic>
        <p:nvPicPr>
          <p:cNvPr id="4" name="Result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00" y="1650000"/>
            <a:ext cx="4750000" cy="46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Phương pháp: Đối sánh 3 cấp độ Baseline với Fine-tune ResNet18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4/8 | Thời lượng: 1 phút 30 giây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108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Baseline 0 (Dummy): Luôn đoán lớp đa số (most_frequent) làm mốc sàn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Baseline 1 (Classic ML): Đặc trưng Histogram màu HSV (36 chiều) + Logistic Regression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Baseline 2 (Transfer Learning nhẹ): MobileNetV3-Small đóng băng toàn bộ backbone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Mô hình chính: Mở khóa &amp; Fine-tune toàn mạng ResNet18 (timm) pre-trained ImageNet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Cấu hình: AdamW (lr = 3e-4, weight_decay = 1e-4), Batch = 32, Early Stopping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Kết quả: ResNet18 đạt 0.981 Macro F1, vượt Baseline +0.094 F1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5/8 | Thời lượng: 1 phút 30 giây (Đánh giá 1 lần trên Tập Test)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63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1. Dummy (lớp đa số): Acc = 0.125 | Macro F1 = 0.028 (Bỏ sót 7/8 lớp)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2. HSV Color + LogReg (Baseline 1): Acc = 0.889 | Macro F1 = 0.887 (Chạy 2 giây)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3. MobileNetV3 Đông cứng (Baseline 2): Acc = 0.927 | Macro F1 = 0.926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1" dirty="0">
                <a:solidFill>
                  <a:srgbClr val="1B5E20"/>
                </a:solidFill>
                <a:latin typeface="Arial"/>
              </a:rPr>
              <a:t>4. ResNet18 Fine-tune (Nhóm): Acc = 0.982 | Macro F1 = 0.981 (Tốt nhất)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5. Bài báo gốc (Yao et al., 2023): Acc = 0.991 | Macro F1 = 0.989 (50 epochs)</a:t>
            </a:r>
          </a:p>
        </p:txBody>
      </p:sp>
      <p:pic>
        <p:nvPicPr>
          <p:cNvPr id="4" name="Result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00" y="1650000"/>
            <a:ext cx="4750000" cy="46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Phân tích: Augmentation tăng +0.033 F1; Lỗi ở cặp Early/Late Blight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6/8 | Thời lượng: 1 phút 00 giây (Overfitting, Ablation &amp; Error Analysis)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63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Kiểm soát Overfitting: Chênh lệch Train F1 (0.992) và Val F1 (0.981) chỉ 0.011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Ablation Study: Tắt Data Augmentation làm Val F1 tụt từ 0.981 xuống 0.948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Mẫu sai #1 (RS_Erly.B 9562): Tomato Early Blight nhầm sang Late Blight (conf 0.68)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Mẫu sai #2 (JR_B.Spot 3132): Ớt chuông mới chớm đốm vi khuẩn nhầm là Lá khỏe (0.45)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Nguyên nhân: Vết đốm sát mép lá mất vòng đồng tâm hoặc bóng râm làm tối kênh Value</a:t>
            </a:r>
          </a:p>
        </p:txBody>
      </p:sp>
      <p:pic>
        <p:nvPicPr>
          <p:cNvPr id="4" name="Result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00" y="1650000"/>
            <a:ext cx="4750000" cy="46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Demo trực tiếp: Chẩn đoán bệnh lá cây Offline (&lt; 30 ms/ảnh)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7/8 | Thời lượng: 2 phút 00 giây (Ứng dụng Web Gradio &amp; Desktop GUI)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63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Chạy hoàn toàn Offline từ mô hình đã lưu (Không huấn luyện lại tại chỗ)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Ví dụ 1 (Đoán đúng): Lá cà chua bệnh đốm vòng (Tomato Early Blight)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Ví dụ 2 (Đoán đúng): Lá cà chua khỏe mạnh (Tomato Healthy)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Ví dụ 3 (Ca khó / Đoán sai): Lá ớt chuông chớm bệnh đốm vi khuẩn (JR_B.Spot 3132)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Hiển thị trực quan: Top-3 lớp xác suất + Khuyến nghị xử lý nông học</a:t>
            </a:r>
          </a:p>
        </p:txBody>
      </p:sp>
      <p:pic>
        <p:nvPicPr>
          <p:cNvPr id="4" name="Result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00" y="1650000"/>
            <a:ext cx="4750000" cy="46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hanh Header màu xanh lá đậm chuẩn nông nghiệp -->
      <p:sp>
        <p:nvSpPr>
          <p:cNvPr id="2" name="HeaderBanner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1B5E20"/>
          </a:solidFill>
        </p:spPr>
        <p:txBody>
          <a:bodyPr anchor="ctr" lIns="457200" rIns="457200"/>
          <a:lstStyle/>
          <a:p>
            <a:r>
              <a:rPr lang="vi-VN" sz="2800" b="1" dirty="0">
                <a:solidFill>
                  <a:srgbClr val="FFFFFF"/>
                </a:solidFill>
                <a:latin typeface="Arial"/>
              </a:rPr>
              <a:t>Kết luận: Đạt mục tiêu 0.981 F1 &amp; Hướng mở rộng thực địa</a:t>
            </a:r>
          </a:p>
          <a:p>
            <a:r>
              <a:rPr lang="vi-VN" sz="1600" i="1" dirty="0">
                <a:solidFill>
                  <a:srgbClr val="C8E6C9"/>
                </a:solidFill>
                <a:latin typeface="Arial"/>
              </a:rPr>
              <a:t>Slide 8/8 | Thời lượng: 0 phút 45 giây</a:t>
            </a:r>
          </a:p>
        </p:txBody>
      </p:sp>
      <!-- Khung nội dung chính (Cỡ chữ 24pt, tối đa 5-6 dòng theo Slide 28) -->
      <p:sp>
        <p:nvSpPr>
          <p:cNvPr id="3" name="ContentBox"/>
          <p:cNvSpPr/>
          <p:nvPr/>
        </p:nvSpPr>
        <p:spPr>
          <a:xfrm>
            <a:off x="550000" y="1650000"/>
            <a:ext cx="10800000" cy="4750000"/>
          </a:xfrm>
          <a:prstGeom prst="rect">
            <a:avLst/>
          </a:prstGeom>
          <a:noFill/>
        </p:spPr>
        <p:txBody>
          <a:bodyPr wrap="square" lIns="180000" tIns="180000" rIns="180000" bIns="180000"/>
          <a:lstStyle/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Hoàn thành mục tiêu Chương 1: Đạt 0.981 Macro F1 (vượt mốc 0.90), chống Data Leakage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Hạn chế: Ảnh PlantVillage chụp trên nền đơn sắc, chưa có nhiễu hậu cảnh đồng ruộng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Hướng phát triển 1: Kết hợp YOLOv8 cắt vùng lá trên bộ dữ liệu ngoài trời PlantDoc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Hướng phát triển 2: Tích hợp bản đồ nhiệt Grad-CAM chỉ rõ vùng đốm bệnh trên lá</a:t>
            </a:r>
          </a:p>
          <a:p>
            <a:pPr marL="342900" indent="-342900" algn="l">
              <a:lnSpc>
                <a:spcPct val="115000"/>
              </a:lnSpc>
              <a:spcBef>
                <a:spcPts val="1000"/>
              </a:spcBef>
              <a:buChar char="▸"/>
            </a:pPr>
            <a:r>
              <a:rPr lang="vi-VN" sz="2400" b="0" dirty="0">
                <a:solidFill>
                  <a:srgbClr val="212121"/>
                </a:solidFill>
                <a:latin typeface="Arial"/>
              </a:rPr>
              <a:t>Cảm ơn thầy và các bạn đã lắng nghe! Nhóm xin mời câu hỏi vấn đáp.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5E20"/>
      </a:dk2>
      <a:lt2>
        <a:srgbClr val="E8F5E9"/>
      </a:lt2>
      <a:accent1>
        <a:srgbClr val="2E7D32"/>
      </a:accent1>
      <a:accent2>
        <a:srgbClr val="43A047"/>
      </a:accent2>
      <a:accent3>
        <a:srgbClr val="66BB6A"/>
      </a:accent3>
      <a:accent4>
        <a:srgbClr val="81C784"/>
      </a:accent4>
      <a:accent5>
        <a:srgbClr val="A5D6A7"/>
      </a:accent5>
      <a:accent6>
        <a:srgbClr val="C8E6C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